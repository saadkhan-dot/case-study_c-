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T Chocolates" charset="1" panose="02000503020000020003"/>
      <p:regular r:id="rId12"/>
    </p:embeddedFont>
    <p:embeddedFont>
      <p:font typeface="Canva Sans" charset="1" panose="020B0503030501040103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docs.google.com/spreadsheets/d/1DUF2isFWsqVSYhbaACYtbgcLi_YjDqpE3GLQIVgkKQg/edit#gid=69851113" TargetMode="External" Type="http://schemas.openxmlformats.org/officeDocument/2006/relationships/hyperlink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2" Target="../media/image2.png" Type="http://schemas.openxmlformats.org/officeDocument/2006/relationships/image"/><Relationship Id="rId3" Target="https://docs.google.com/spreadsheets/d/1DUF2isFWsqVSYhbaACYtbgcLi_YjDqpE3GLQIVgkKQg/edit#gid=69851113" TargetMode="External" Type="http://schemas.openxmlformats.org/officeDocument/2006/relationships/hyperlink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67705" y="4075232"/>
            <a:ext cx="7691595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5"/>
              </a:lnSpc>
            </a:pPr>
            <a:r>
              <a:rPr lang="en-US" sz="2404" spc="721">
                <a:solidFill>
                  <a:srgbClr val="F8F0F3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ONLINE QUIZ SYSTEM WITH RESULT TRACKING</a:t>
            </a:r>
          </a:p>
          <a:p>
            <a:pPr algn="l" marL="0" indent="0" lvl="0">
              <a:lnSpc>
                <a:spcPts val="2885"/>
              </a:lnSpc>
            </a:pPr>
          </a:p>
          <a:p>
            <a:pPr algn="l" marL="0" indent="0" lvl="0">
              <a:lnSpc>
                <a:spcPts val="2885"/>
              </a:lnSpc>
            </a:pPr>
            <a:r>
              <a:rPr lang="en-US" sz="2404" spc="721">
                <a:solidFill>
                  <a:srgbClr val="F8F0F3"/>
                </a:solidFill>
                <a:latin typeface="TT Chocolates"/>
                <a:ea typeface="TT Chocolates"/>
                <a:cs typeface="TT Chocolates"/>
                <a:sym typeface="TT Chocolates"/>
              </a:rPr>
              <a:t>SAAD YUSUF KHAN</a:t>
            </a:r>
          </a:p>
          <a:p>
            <a:pPr algn="l" marL="0" indent="0" lvl="0">
              <a:lnSpc>
                <a:spcPts val="2885"/>
              </a:lnSpc>
            </a:pPr>
            <a:r>
              <a:rPr lang="en-US" sz="2404" spc="721">
                <a:solidFill>
                  <a:srgbClr val="F8F0F3"/>
                </a:solidFill>
                <a:latin typeface="TT Chocolates"/>
                <a:ea typeface="TT Chocolates"/>
                <a:cs typeface="TT Chocolates"/>
                <a:sym typeface="TT Chocolates"/>
              </a:rPr>
              <a:t> 150096725157</a:t>
            </a:r>
          </a:p>
          <a:p>
            <a:pPr algn="l" marL="0" indent="0" lvl="0">
              <a:lnSpc>
                <a:spcPts val="2885"/>
              </a:lnSpc>
            </a:pPr>
          </a:p>
          <a:p>
            <a:pPr algn="l" marL="0" indent="0" lvl="0">
              <a:lnSpc>
                <a:spcPts val="2885"/>
              </a:lnSpc>
            </a:pPr>
            <a:r>
              <a:rPr lang="en-US" sz="2404" spc="721">
                <a:solidFill>
                  <a:srgbClr val="F8F0F3"/>
                </a:solidFill>
                <a:latin typeface="TT Chocolates"/>
                <a:ea typeface="TT Chocolates"/>
                <a:cs typeface="TT Chocolates"/>
                <a:sym typeface="TT Chocolates"/>
              </a:rPr>
              <a:t>ITM SKILLS UNIVERSITY</a:t>
            </a:r>
          </a:p>
          <a:p>
            <a:pPr algn="l" marL="0" indent="0" lvl="0">
              <a:lnSpc>
                <a:spcPts val="2885"/>
              </a:lnSpc>
            </a:pPr>
            <a:r>
              <a:rPr lang="en-US" sz="2404" spc="721">
                <a:solidFill>
                  <a:srgbClr val="F8F0F3"/>
                </a:solidFill>
                <a:latin typeface="TT Chocolates"/>
                <a:ea typeface="TT Chocolates"/>
                <a:cs typeface="TT Chocolates"/>
                <a:sym typeface="TT Chocolates"/>
              </a:rPr>
              <a:t> SCHOOL OF FUTURE TECH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9567705" y="3392368"/>
            <a:ext cx="1104900" cy="57150"/>
          </a:xfrm>
          <a:prstGeom prst="rect">
            <a:avLst/>
          </a:prstGeom>
          <a:solidFill>
            <a:srgbClr val="822E28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514350" y="3989686"/>
            <a:ext cx="7341365" cy="2307628"/>
          </a:xfrm>
          <a:custGeom>
            <a:avLst/>
            <a:gdLst/>
            <a:ahLst/>
            <a:cxnLst/>
            <a:rect r="r" b="b" t="t" l="l"/>
            <a:pathLst>
              <a:path h="2307628" w="7341365">
                <a:moveTo>
                  <a:pt x="0" y="0"/>
                </a:moveTo>
                <a:lnTo>
                  <a:pt x="7341365" y="0"/>
                </a:lnTo>
                <a:lnTo>
                  <a:pt x="7341365" y="2307628"/>
                </a:lnTo>
                <a:lnTo>
                  <a:pt x="0" y="2307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61696" y="1701087"/>
            <a:ext cx="6264513" cy="7557213"/>
            <a:chOff x="0" y="0"/>
            <a:chExt cx="812800" cy="9805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80524"/>
            </a:xfrm>
            <a:custGeom>
              <a:avLst/>
              <a:gdLst/>
              <a:ahLst/>
              <a:cxnLst/>
              <a:rect r="r" b="b" t="t" l="l"/>
              <a:pathLst>
                <a:path h="980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80524"/>
                  </a:lnTo>
                  <a:lnTo>
                    <a:pt x="0" y="980524"/>
                  </a:lnTo>
                  <a:close/>
                </a:path>
              </a:pathLst>
            </a:custGeom>
            <a:blipFill>
              <a:blip r:embed="rId2"/>
              <a:stretch>
                <a:fillRect l="-10317" t="0" r="-103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1792" y="5476380"/>
            <a:ext cx="6759130" cy="3781920"/>
            <a:chOff x="0" y="0"/>
            <a:chExt cx="9012174" cy="504256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9012174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38"/>
                </a:lnSpc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Goal: To build an automated, interactive, console-based quiz system that validates input, tracks per-question results, and displays a detailed result summary.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528216"/>
              <a:ext cx="9012174" cy="3514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docs.google.com/spreadsheets/d/1DUF2isFWsqVSYhbaACYtbgcLi_YjDqpE3GLQIVgkKQg/edit#gid=69851113"/>
                </a:rPr>
                <a:t>The Challenge: Traditional paper-based quizzes and basic digital quiz systems have key limitations:</a:t>
              </a:r>
            </a:p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docs.google.com/spreadsheets/d/1DUF2isFWsqVSYhbaACYtbgcLi_YjDqpE3GLQIVgkKQg/edit#gid=69851113"/>
                </a:rPr>
                <a:t>No instant feedback on individual question performance</a:t>
              </a:r>
            </a:p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5" tooltip="https://docs.google.com/spreadsheets/d/1DUF2isFWsqVSYhbaACYtbgcLi_YjDqpE3GLQIVgkKQg/edit#gid=69851113"/>
                </a:rPr>
                <a:t>Users only see a final score with no breakdown of right or wrong answers</a:t>
              </a:r>
            </a:p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6" tooltip="https://docs.google.com/spreadsheets/d/1DUF2isFWsqVSYhbaACYtbgcLi_YjDqpE3GLQIVgkKQg/edit#gid=69851113"/>
                </a:rPr>
                <a:t>No input validation — invalid entries can crash or disrupt the program</a:t>
              </a:r>
            </a:p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7" tooltip="https://docs.google.com/spreadsheets/d/1DUF2isFWsqVSYhbaACYtbgcLi_YjDqpE3GLQIVgkKQg/edit#gid=69851113"/>
                </a:rPr>
                <a:t>No way to review score after the quiz without restarting</a:t>
              </a:r>
            </a:p>
            <a:p>
              <a:pPr algn="l" marL="366760" indent="-183380" lvl="1">
                <a:lnSpc>
                  <a:spcPts val="2378"/>
                </a:lnSpc>
                <a:buFont typeface="Arial"/>
                <a:buChar char="•"/>
              </a:pPr>
              <a:r>
                <a:rPr lang="en-US" sz="169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8" tooltip="https://docs.google.com/spreadsheets/d/1DUF2isFWsqVSYhbaACYtbgcLi_YjDqpE3GLQIVgkKQg/edit#gid=69851113"/>
                </a:rPr>
                <a:t>Manual evaluation is time-consuming and error-prone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73359" y="1028700"/>
            <a:ext cx="10923491" cy="3443049"/>
            <a:chOff x="0" y="0"/>
            <a:chExt cx="14564655" cy="4590732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14564655" cy="4590732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46100" y="708025"/>
              <a:ext cx="13348260" cy="3260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9466"/>
                </a:lnSpc>
              </a:pPr>
              <a:r>
                <a:rPr lang="en-US" b="true" sz="860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Statement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76932" y="0"/>
            <a:ext cx="9311068" cy="10287000"/>
            <a:chOff x="0" y="0"/>
            <a:chExt cx="812800" cy="897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97993"/>
            </a:xfrm>
            <a:custGeom>
              <a:avLst/>
              <a:gdLst/>
              <a:ahLst/>
              <a:cxnLst/>
              <a:rect r="r" b="b" t="t" l="l"/>
              <a:pathLst>
                <a:path h="8979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97993"/>
                  </a:lnTo>
                  <a:lnTo>
                    <a:pt x="0" y="897993"/>
                  </a:lnTo>
                  <a:close/>
                </a:path>
              </a:pathLst>
            </a:custGeom>
            <a:blipFill>
              <a:blip r:embed="rId2"/>
              <a:stretch>
                <a:fillRect l="-5240" t="0" r="-52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7147648" cy="5047856"/>
            <a:chOff x="0" y="0"/>
            <a:chExt cx="9530198" cy="673047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9530198" cy="3648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33"/>
                </a:lnSpc>
              </a:pPr>
              <a:r>
                <a:rPr lang="en-US" b="true" sz="703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Our Solution — Online Quiz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90704"/>
              <a:ext cx="8932379" cy="1385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7"/>
                </a:lnSpc>
              </a:pPr>
              <a:r>
                <a:rPr lang="en-US" sz="247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What we built: A menu-driven C++ console application that solves all the above problems.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8915"/>
              <a:ext cx="8217693" cy="1051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Technology Used: C++ | cin / cout | Global Arrays | Functions | Switch-Case | Loops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269378"/>
            <a:ext cx="7147648" cy="323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Presents 3 multiple-choice questions with 4 options each</a:t>
            </a:r>
          </a:p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Validates every input — rejects anything outside 1 to 4</a:t>
            </a:r>
          </a:p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each question result as "Correct" or "Wrong" using a string array</a:t>
            </a:r>
          </a:p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Displays a full per-question result summary after quiz completion</a:t>
            </a:r>
          </a:p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Allows users to review their last score anytime from the main menu</a:t>
            </a:r>
          </a:p>
          <a:p>
            <a:pPr algn="l" marL="394114" indent="-197057" lvl="1">
              <a:lnSpc>
                <a:spcPts val="2920"/>
              </a:lnSpc>
              <a:buFont typeface="Arial"/>
              <a:buChar char="•"/>
            </a:pPr>
            <a:r>
              <a:rPr lang="en-US" sz="1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 modular design using separate functions for each task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4809" y="0"/>
            <a:ext cx="10897872" cy="10287000"/>
            <a:chOff x="0" y="0"/>
            <a:chExt cx="812800" cy="767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7239"/>
            </a:xfrm>
            <a:custGeom>
              <a:avLst/>
              <a:gdLst/>
              <a:ahLst/>
              <a:cxnLst/>
              <a:rect r="r" b="b" t="t" l="l"/>
              <a:pathLst>
                <a:path h="76723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7239"/>
                  </a:lnTo>
                  <a:lnTo>
                    <a:pt x="0" y="767239"/>
                  </a:lnTo>
                  <a:close/>
                </a:path>
              </a:pathLst>
            </a:custGeom>
            <a:blipFill>
              <a:blip r:embed="rId2"/>
              <a:stretch>
                <a:fillRect l="0" t="-651" r="0" b="-6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2210" y="0"/>
            <a:ext cx="5431733" cy="4843350"/>
            <a:chOff x="0" y="0"/>
            <a:chExt cx="1598356" cy="14252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8356" cy="1425217"/>
            </a:xfrm>
            <a:custGeom>
              <a:avLst/>
              <a:gdLst/>
              <a:ahLst/>
              <a:cxnLst/>
              <a:rect r="r" b="b" t="t" l="l"/>
              <a:pathLst>
                <a:path h="1425217" w="1598356">
                  <a:moveTo>
                    <a:pt x="0" y="0"/>
                  </a:moveTo>
                  <a:lnTo>
                    <a:pt x="1598356" y="0"/>
                  </a:lnTo>
                  <a:lnTo>
                    <a:pt x="1598356" y="1425217"/>
                  </a:lnTo>
                  <a:lnTo>
                    <a:pt x="0" y="1425217"/>
                  </a:lnTo>
                  <a:close/>
                </a:path>
              </a:pathLst>
            </a:custGeom>
            <a:blipFill>
              <a:blip r:embed="rId3"/>
              <a:stretch>
                <a:fillRect l="0" t="-6074" r="0" b="-607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6915" y="4843350"/>
            <a:ext cx="8792844" cy="3953748"/>
            <a:chOff x="0" y="0"/>
            <a:chExt cx="11723791" cy="52716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723791" cy="135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0"/>
                </a:lnSpc>
              </a:pPr>
              <a:r>
                <a:rPr lang="en-US" sz="33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It Works</a:t>
              </a:r>
            </a:p>
            <a:p>
              <a:pPr algn="l" marL="0" indent="0" lvl="0">
                <a:lnSpc>
                  <a:spcPts val="4020"/>
                </a:lnSpc>
              </a:pPr>
              <a:r>
                <a:rPr lang="en-US" sz="335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Program Flow: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69561"/>
              <a:ext cx="11723791" cy="3402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docs.google.com/spreadsheets/d/1DUF2isFWsqVSYhbaACYtbgcLi_YjDqpE3GLQIVgkKQg/edit#gid=69851113"/>
                </a:rPr>
                <a:t>Key Components:</a:t>
              </a:r>
            </a:p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5" tooltip="https://docs.google.com/spreadsheets/d/1DUF2isFWsqVSYhbaACYtbgcLi_YjDqpE3GLQIVgkKQg/edit#gid=69851113"/>
                </a:rPr>
                <a:t>FunctionPurposeshowInstructions()Displays quiz rulesaskQuestion()Delivers question, validates input, stores resultstartQuiz()Manages full quiz flow and result summarymain()Menu loop with switch-case routing</a:t>
              </a:r>
            </a:p>
            <a:p>
              <a:pPr algn="l" marL="0" indent="0" lvl="0">
                <a:lnSpc>
                  <a:spcPts val="2293"/>
                </a:lnSpc>
              </a:pPr>
            </a:p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6" tooltip="https://docs.google.com/spreadsheets/d/1DUF2isFWsqVSYhbaACYtbgcLi_YjDqpE3GLQIVgkKQg/edit#gid=69851113"/>
                </a:rPr>
                <a:t>Data Used:</a:t>
              </a:r>
            </a:p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7" tooltip="https://docs.google.com/spreadsheets/d/1DUF2isFWsqVSYhbaACYtbgcLi_YjDqpE3GLQIVgkKQg/edit#gid=69851113"/>
                </a:rPr>
                <a:t>score (int) — tracks total correct answers</a:t>
              </a:r>
            </a:p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8" tooltip="https://docs.google.com/spreadsheets/d/1DUF2isFWsqVSYhbaACYtbgcLi_YjDqpE3GLQIVgkKQg/edit#gid=69851113"/>
                </a:rPr>
                <a:t>quizAttempted (bool) — tracks if quiz was taken</a:t>
              </a:r>
            </a:p>
            <a:p>
              <a:pPr algn="l" marL="0" indent="0" lvl="0">
                <a:lnSpc>
                  <a:spcPts val="2293"/>
                </a:lnSpc>
              </a:pPr>
              <a:r>
                <a:rPr lang="en-US" sz="163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9" tooltip="https://docs.google.com/spreadsheets/d/1DUF2isFWsqVSYhbaACYtbgcLi_YjDqpE3GLQIVgkKQg/edit#gid=69851113"/>
                </a:rPr>
                <a:t>results[3] (string array) — stores Correct/Wrong per question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61696" y="1701087"/>
            <a:ext cx="6264513" cy="7557213"/>
            <a:chOff x="0" y="0"/>
            <a:chExt cx="812800" cy="9805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80524"/>
            </a:xfrm>
            <a:custGeom>
              <a:avLst/>
              <a:gdLst/>
              <a:ahLst/>
              <a:cxnLst/>
              <a:rect r="r" b="b" t="t" l="l"/>
              <a:pathLst>
                <a:path h="980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80524"/>
                  </a:lnTo>
                  <a:lnTo>
                    <a:pt x="0" y="980524"/>
                  </a:lnTo>
                  <a:close/>
                </a:path>
              </a:pathLst>
            </a:custGeom>
            <a:blipFill>
              <a:blip r:embed="rId2"/>
              <a:stretch>
                <a:fillRect l="-10317" t="0" r="-103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36" y="3407679"/>
            <a:ext cx="12768685" cy="5850621"/>
            <a:chOff x="0" y="0"/>
            <a:chExt cx="17024913" cy="780082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6625531" cy="339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What this pr</a:t>
              </a: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oject demonstrates:</a:t>
              </a:r>
            </a:p>
            <a:p>
              <a:pPr algn="l" marL="453673" indent="-226836" lvl="1">
                <a:lnSpc>
                  <a:spcPts val="2521"/>
                </a:lnSpc>
                <a:buFont typeface="Arial"/>
                <a:buChar char="•"/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to build a fully functional menu-driven application in C++</a:t>
              </a:r>
            </a:p>
            <a:p>
              <a:pPr algn="l" marL="453673" indent="-226836" lvl="1">
                <a:lnSpc>
                  <a:spcPts val="2521"/>
                </a:lnSpc>
                <a:buFont typeface="Arial"/>
                <a:buChar char="•"/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Practical use of global variables, arrays, functions, and loops together</a:t>
              </a:r>
            </a:p>
            <a:p>
              <a:pPr algn="l" marL="453673" indent="-226836" lvl="1">
                <a:lnSpc>
                  <a:spcPts val="2521"/>
                </a:lnSpc>
                <a:buFont typeface="Arial"/>
                <a:buChar char="•"/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Importance of input validation in making programs robust and crash-proof</a:t>
              </a:r>
            </a:p>
            <a:p>
              <a:pPr algn="l" marL="453673" indent="-226836" lvl="1">
                <a:lnSpc>
                  <a:spcPts val="2521"/>
                </a:lnSpc>
                <a:buFont typeface="Arial"/>
                <a:buChar char="•"/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arrays can be used to store and display per-question result tracking</a:t>
              </a:r>
            </a:p>
            <a:p>
              <a:pPr algn="l" marL="453673" indent="-226836" lvl="1">
                <a:lnSpc>
                  <a:spcPts val="2521"/>
                </a:lnSpc>
                <a:buFont typeface="Arial"/>
                <a:buChar char="•"/>
              </a:pPr>
              <a:r>
                <a:rPr lang="en-US" sz="210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Clean modular code design using separate functions for each responsibility</a:t>
              </a:r>
            </a:p>
            <a:p>
              <a:pPr algn="l" marL="0" indent="0" lvl="0">
                <a:lnSpc>
                  <a:spcPts val="2521"/>
                </a:lnSpc>
              </a:pPr>
            </a:p>
            <a:p>
              <a:pPr algn="l" marL="0" indent="0" lvl="0">
                <a:lnSpc>
                  <a:spcPts val="2521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92494"/>
              <a:ext cx="17024913" cy="410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docs.google.com/spreadsheets/d/1DUF2isFWsqVSYhbaACYtbgcLi_YjDqpE3GLQIVgkKQg/edit#gid=69851113"/>
                </a:rPr>
                <a:t>W</a:t>
              </a: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docs.google.com/spreadsheets/d/1DUF2isFWsqVSYhbaACYtbgcLi_YjDqpE3GLQIVgkKQg/edit#gid=69851113"/>
                </a:rPr>
                <a:t>hat can be added next: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5" tooltip="https://docs.google.com/spreadsheets/d/1DUF2isFWsqVSYhbaACYtbgcLi_YjDqpE3GLQIVgkKQg/edit#gid=69851113"/>
                </a:rPr>
                <a:t>File handling to save scores permanently across sessions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6" tooltip="https://docs.google.com/spreadsheets/d/1DUF2isFWsqVSYhbaACYtbgcLi_YjDqpE3GLQIVgkKQg/edit#gid=69851113"/>
                </a:rPr>
                <a:t>Larger randomized question bank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7" tooltip="https://docs.google.com/spreadsheets/d/1DUF2isFWsqVSYhbaACYtbgcLi_YjDqpE3GLQIVgkKQg/edit#gid=69851113"/>
                </a:rPr>
                <a:t>OOP redesign using classes and objects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8" tooltip="https://docs.google.com/spreadsheets/d/1DUF2isFWsqVSYhbaACYtbgcLi_YjDqpE3GLQIVgkKQg/edit#gid=69851113"/>
                </a:rPr>
                <a:t>Timer feature for each question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9" tooltip="https://docs.google.com/spreadsheets/d/1DUF2isFWsqVSYhbaACYtbgcLi_YjDqpE3GLQIVgkKQg/edit#gid=69851113"/>
                </a:rPr>
                <a:t>Difficulty levels (Easy / Medium / Hard)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  <a:r>
                <a:rPr lang="en-US" sz="19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10" tooltip="https://docs.google.com/spreadsheets/d/1DUF2isFWsqVSYhbaACYtbgcLi_YjDqpE3GLQIVgkKQg/edit#gid=69851113"/>
                </a:rPr>
                <a:t>Key Takeaway: Even a simple C++ console program can be structured, validated, and feature-rich when built with clean logic and modular design.</a:t>
              </a:r>
            </a:p>
            <a:p>
              <a:pPr algn="l" marL="428255" indent="-214128" lvl="1">
                <a:lnSpc>
                  <a:spcPts val="2777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73359" y="1028700"/>
            <a:ext cx="10923491" cy="2242899"/>
            <a:chOff x="0" y="0"/>
            <a:chExt cx="14564655" cy="2990533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14564655" cy="2990532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46100" y="708025"/>
              <a:ext cx="13348260" cy="1660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9466"/>
                </a:lnSpc>
              </a:pPr>
              <a:r>
                <a:rPr lang="en-US" b="true" sz="860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  <a:r>
                <a:rPr lang="en-US" b="true" sz="860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onclusion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999" y="3900489"/>
            <a:ext cx="7908899" cy="2486022"/>
          </a:xfrm>
          <a:custGeom>
            <a:avLst/>
            <a:gdLst/>
            <a:ahLst/>
            <a:cxnLst/>
            <a:rect r="r" b="b" t="t" l="l"/>
            <a:pathLst>
              <a:path h="2486022" w="7908899">
                <a:moveTo>
                  <a:pt x="0" y="0"/>
                </a:moveTo>
                <a:lnTo>
                  <a:pt x="7908899" y="0"/>
                </a:lnTo>
                <a:lnTo>
                  <a:pt x="7908899" y="2486022"/>
                </a:lnTo>
                <a:lnTo>
                  <a:pt x="0" y="2486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56123" y="3598985"/>
            <a:ext cx="8384422" cy="2827773"/>
            <a:chOff x="0" y="0"/>
            <a:chExt cx="11179230" cy="377036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61667" y="0"/>
              <a:ext cx="10356836" cy="156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69"/>
                </a:lnSpc>
              </a:pPr>
              <a:r>
                <a:rPr lang="en-US" sz="7724" spc="2317">
                  <a:solidFill>
                    <a:srgbClr val="F8F0F3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THANK YOU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1667" y="2452739"/>
              <a:ext cx="10356836" cy="1317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pc="900">
                  <a:solidFill>
                    <a:srgbClr val="F8F0F3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SAAD YUSUF KHAN</a:t>
              </a: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 spc="900">
                  <a:solidFill>
                    <a:srgbClr val="F8F0F3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150096725157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983153"/>
              <a:ext cx="11179230" cy="0"/>
            </a:xfrm>
            <a:prstGeom prst="line">
              <a:avLst/>
            </a:prstGeom>
            <a:ln cap="flat" w="139700">
              <a:solidFill>
                <a:srgbClr val="822E28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DAHDo-yY7xw</dc:identifier>
  <dcterms:modified xsi:type="dcterms:W3CDTF">2011-08-01T06:04:30Z</dcterms:modified>
  <cp:revision>1</cp:revision>
  <dc:title>Online Quiz System with Result Tracking Saad Yusuf Khan 150096725157 ITM Skills University School of Future Tech</dc:title>
</cp:coreProperties>
</file>